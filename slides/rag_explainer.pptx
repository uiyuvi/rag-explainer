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 type="wide"/>
  <p:notesSz cx="6858000" cy="9144000"/>
  <p:defaultTextStyle/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presProps" Target="presProps.xml"/>
  <Relationship Id="rId21" Type="http://schemas.openxmlformats.org/officeDocument/2006/relationships/viewProps" Target="viewProps.xml"/>
  <Relationship Id="rId22" Type="http://schemas.openxmlformats.org/officeDocument/2006/relationships/tableStyles" Target="tableStyles.xml"/>
</Relationships>
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Pr/>
          <p:nvPr/>
        </p:nvSpPr>
        <p:spPr>
          <a:xfrm>
            <a:off x="360000" y="300000"/>
            <a:ext cx="11472000" cy="14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2400" b="1">
                <a:solidFill>
                  <a:srgbClr val="0A1931"/>
                </a:solidFill>
              </a:rPr>
              <a:t>Build Your Personal
Document Assistant</a:t>
            </a:r>
          </a:p>
          <a:p>
            <a:pPr>
              <a:buNone/>
            </a:pPr>
            <a:endParaRPr sz="800">
              <a:solidFill>
                <a:schemeClr val="tx1"/>
              </a:solidFill>
            </a:endParaRPr>
          </a:p>
          <a:p>
            <a:pPr>
              <a:buNone/>
            </a:pPr>
            <a:r>
              <a:rPr sz="1100">
                <a:solidFill>
                  <a:srgbClr val="5A6C80"/>
                </a:solidFill>
              </a:rPr>
              <a:t>How AI answers from data it was never trained on — the RAG technique behind private PDFs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AGENDA  •  25 MINUTES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Our Journey Today</a:t>
            </a:r>
          </a:p>
        </p:txBody>
      </p:sp>
      <p:sp>
        <p:nvSpPr>
          <p:cNvPr id="3" name="Body"/>
          <p:cNv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Problem  —  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Why searching with exact words fails. See it live.</a:t>
            </a:r>
          </a:p>
          <a:p>
            <a:pPr>
              <a:buNone/>
            </a:pPr>
            <a:endParaRPr sz="600">
              <a:solidFill>
                <a:schemeClr val="tx1"/>
              </a:solidFill>
            </a:endParaRP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Flow  —  15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How Vector Search works, step-by-step.
One insurance PDF, end-to-end.</a:t>
            </a:r>
          </a:p>
          <a:p>
            <a:pPr>
              <a:buNone/>
            </a:pPr>
            <a:endParaRPr sz="600">
              <a:solidFill>
                <a:schemeClr val="tx1"/>
              </a:solidFill>
            </a:endParaRP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Value  —  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Benefits, limits, where to use it,
and live demos on your phone.</a:t>
            </a:r>
          </a:p>
        </p:txBody>
      </p:sp>
      <p:sp>
        <p:nvSpPr>
          <p:cNvPr id="4" name="Side"/>
          <p:cNv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You will scan, not just listen.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Ask a question → see which chunk
is closest in meaning → see the answer with citations.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QR at the end → all demos + further reading.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THE PROBLEM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Why Normal Search Is Not Enough</a:t>
            </a:r>
          </a:p>
        </p:txBody>
      </p:sp>
      <p:sp>
        <p:nvSpPr>
          <p:cNvPr id="3" name="Body"/>
          <p:cNv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400" b="1">
                <a:solidFill>
                  <a:srgbClr val="12549E"/>
                </a:solidFill>
              </a:rPr>
              <a:t>The “Keyword” Problem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Search looks for exact words only.</a:t>
            </a: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You ask for “Hospitals” → it misses “Medical Centers.”</a:t>
            </a: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It does not understand meaning.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Demo in your hand: try it now →</a:t>
            </a: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01_keyword_vs_vector.html</a:t>
            </a:r>
          </a:p>
        </p:txBody>
      </p:sp>
      <p:sp>
        <p:nvSpPr>
          <p:cNvPr id="4" name="Side"/>
          <p:cNv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The Receptionist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You ask: “Is there a doctor available?”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Reply: “No, only Physicians on duty.”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Keywords are literal.
Humans are semantic.</a:t>
            </a:r>
          </a:p>
          <a:p>
            <a:pPr>
              <a:buNone/>
            </a:pPr>
            <a:r>
              <a:rPr sz="950">
                <a:solidFill>
                  <a:srgbClr val="12549E"/>
                </a:solidFill>
              </a:rPr>
              <a:t>We need meaning, not letters.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RUNNING EXAMPLE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Our Example: The 50-Page Insurance PDF</a:t>
            </a:r>
          </a:p>
        </p:txBody>
      </p:sp>
      <p:sp>
        <p:nvSpPr>
          <p:cNvPr id="3" name="Body"/>
          <p:cNv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Imagine you have a 50-page policy.
You need one answer, fast.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User asks:</a:t>
            </a: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“Which hospitals are covered
in this policy?”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We will follow this ONE question through every step.</a:t>
            </a:r>
          </a:p>
        </p:txBody>
      </p:sp>
      <p:sp>
        <p:nvSpPr>
          <p:cNvPr id="4" name="Side"/>
          <p:cNv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00" b="1">
                <a:solidFill>
                  <a:srgbClr val="0A1931"/>
                </a:solidFill>
              </a:rPr>
              <a:t>HEALTH INSURANCE POLICY</a:t>
            </a:r>
          </a:p>
          <a:p>
            <a:pPr>
              <a:buNone/>
            </a:pPr>
            <a:r>
              <a:rPr sz="800">
                <a:solidFill>
                  <a:srgbClr val="5A6C80"/>
                </a:solidFill>
              </a:rPr>
              <a:t>Schedule of Network Providers &amp; User Query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• 50 pages, tables, scanned images
• Legal language
• Stays in your system — private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12549E"/>
                </a:solidFill>
              </a:rPr>
              <a:t>This question card stays visible on every next slide.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BIG PICTURE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Architecture — One Flow</a:t>
            </a:r>
          </a:p>
        </p:txBody>
      </p:sp>
      <p:sp>
        <p:nvSpPr>
          <p:cNvPr id="3" name="Full"/>
          <p:cNv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50" b="1">
                <a:solidFill>
                  <a:srgbClr val="0A1931"/>
                </a:solidFill>
              </a:rPr>
              <a:t>PDF Policy  →  Chunking  →  Encoder  →  Vector DB  →  LLM Answer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We turn text into Meaning Fingerprints (Vectors), store them, find the closest match to your question, and let the AI write the answer.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Next 9 slides = each box, with the same insurance question.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1  •  DOCUMENT INPUT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Reading Your Source Files</a:t>
            </a:r>
          </a:p>
        </p:txBody>
      </p:sp>
      <p:sp>
        <p:nvSpPr>
          <p:cNvPr id="3" name="Body"/>
          <p:cNv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The system reads source files as the single source of truth.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Reads text, tables and images (OCR if scanned)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Keeps data in your system — secure, private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Extracts every word to prepare for the next step</a:t>
            </a:r>
          </a:p>
        </p:txBody>
      </p:sp>
      <p:sp>
        <p:nvSpPr>
          <p:cNvPr id="4" name="Side"/>
          <p:cNv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What it does NOT do: “look” like you do.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It extracts, not views. Errors here (blurry PDF) → wrong answers later.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EF413D"/>
                </a:solidFill>
              </a:rPr>
              <a:t>For Builders: OCR + layout parsing.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2  •  CHUNKING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Cutting the Baguette</a:t>
            </a:r>
          </a:p>
        </p:txBody>
      </p:sp>
      <p:sp>
        <p:nvSpPr>
          <p:cNvPr id="3" name="Body"/>
          <p:cNv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50 pages is too big to digest at once.</a:t>
            </a:r>
          </a:p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We cut it into small “chunks” (paragraphs).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Ensures we find the exact page you need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Example: 500 characters + 50 overlap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Too small → loses context. Too big → misses precision.</a:t>
            </a:r>
          </a:p>
        </p:txBody>
      </p:sp>
      <p:sp>
        <p:nvSpPr>
          <p:cNvPr id="4" name="Side"/>
          <p:cNv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French Baguette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Cut a long baguette into slices to find the slice with the most garlic.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Try: demos/02_chunk_lab.html → move the slider.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3+4  •  EMBEDDINGS &amp; VECTORS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Meaning Fingerprints</a:t>
            </a:r>
          </a:p>
        </p:txBody>
      </p:sp>
      <p:sp>
        <p:nvSpPr>
          <p:cNvPr id="3" name="Body"/>
          <p:cNv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The Encoder turns each chunk into a list of numbers — a Vector.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These numbers represent concept, not letters.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Similar meanings → similar numbers.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“St. Jude’s Hospital” ≈ “Medical Care Center” (0.92)
“St. Jude’s Hospital” ≠ “Car” (0.03)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Think: coordinates on a map of all human knowledge.</a:t>
            </a:r>
          </a:p>
        </p:txBody>
      </p:sp>
      <p:sp>
        <p:nvSpPr>
          <p:cNvPr id="4" name="Side"/>
          <p:cNv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2-D Map (demo)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Hospital • near • Medical Center
Far from • Car, Apple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Scan → demos/03_vector_map.html
Type a word → see closest match.</a:t>
            </a:r>
          </a:p>
          <a:p>
            <a:pPr>
              <a:buNone/>
            </a:pPr>
            <a:r>
              <a:rPr sz="900">
                <a:solidFill>
                  <a:srgbClr val="EF413D"/>
                </a:solidFill>
              </a:rPr>
              <a:t>For Builders: 768-D, cosine similarity.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5  •  VECTOR DATABASE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Smart Library</a:t>
            </a:r>
          </a:p>
        </p:txBody>
      </p:sp>
      <p:sp>
        <p:nvSpPr>
          <p:cNvPr id="3" name="Body"/>
          <p:cNv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0A1931"/>
                </a:solidFill>
              </a:rPr>
              <a:t>A storage system for all fingerprints.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Groups related topics together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Finds matches in milliseconds, even for 10,000 pages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When you ask, it ranks every chunk by meaning</a:t>
            </a:r>
          </a:p>
        </p:txBody>
      </p:sp>
      <p:sp>
        <p:nvSpPr>
          <p:cNvPr id="4" name="Side"/>
          <p:cNv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Hyper-Organized Library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All books about “Fruit” on the same shelf,
even if one says “Apple” and one “Pear”.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No training needed — just file the fingerprints.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6+7  •  QUERY &amp; SEARCH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“Closest Match” Game</a:t>
            </a:r>
          </a:p>
        </p:txBody>
      </p:sp>
      <p:sp>
        <p:nvSpPr>
          <p:cNvPr id="3" name="Body"/>
          <p:cNv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12549E"/>
                </a:solidFill>
              </a:rPr>
              <a:t>You ask: “Which hospitals are covered?”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System makes a fingerprint for the question too.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Then compares → pulls Top-K (best 3-4 chunks).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Ignores 40 pages of legal fluff.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12549E"/>
                </a:solidFill>
              </a:rPr>
              <a:t>Try: demos/04_similarity_rank.html → Top-K slider.</a:t>
            </a:r>
          </a:p>
        </p:txBody>
      </p:sp>
      <p:sp>
        <p:nvSpPr>
          <p:cNvPr id="4" name="Side"/>
          <p:cNv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Scores (cosine)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12: City General ...  0.93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08: St. Jude’s ... 0.91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31: Westside ... 0.84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02: Legal disclaimer  0.12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EF413D"/>
                </a:solidFill>
              </a:rPr>
              <a:t>For Builders: cosine = dot / |a||b|.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8  •  FEEDING THE EXPERT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Lawyer’s Desk</a:t>
            </a:r>
          </a:p>
        </p:txBody>
      </p:sp>
      <p:sp>
        <p:nvSpPr>
          <p:cNvPr id="3" name="Body"/>
          <p:cNv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We give the LLM (AI brain) ONLY the relevant chunks.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Not the whole 50 pages — just 3 pages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Fits in the token window (e.g., 4,096 tokens)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LLM reads → writes a clear answer</a:t>
            </a:r>
          </a:p>
        </p:txBody>
      </p:sp>
      <p:sp>
        <p:nvSpPr>
          <p:cNvPr id="4" name="Side"/>
          <p:cNv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Lawyer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Give a lawyer only the 3 pages they need,
not the whole box of files.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Try: demos/05_context_window.html
Drag chunks until the window fills.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9  •  ANSWER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A Natural Response — With Citations</a:t>
            </a:r>
          </a:p>
        </p:txBody>
      </p:sp>
      <p:sp>
        <p:nvSpPr>
          <p:cNvPr id="3" name="Full"/>
          <p:cNv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AI says:</a:t>
            </a:r>
          </a:p>
          <a:p>
            <a:pPr>
              <a:buNone/>
            </a:pPr>
            <a:r>
              <a:rPr sz="1100">
                <a:solidFill>
                  <a:srgbClr val="12549E"/>
                </a:solidFill>
              </a:rPr>
              <a:t>“According to your policy (p.12, p.8, p.31), you are covered at City General, St. Jude’s Medical Center, and Westside Health.”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Grounded: answer + sources. You can verify.      Try end-to-end: demos/06_e2e_rag.html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TRUST  •  FAILURE MODES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When It Goes Wrong</a:t>
            </a:r>
          </a:p>
        </p:txBody>
      </p:sp>
      <p:sp>
        <p:nvSpPr>
          <p:cNvPr id="3" name="Full"/>
          <p:cNv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If retrieval misses → LLM may hallucinate. We mitigate: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Blurry PDF → OCR errors → wrong vectors → check scans          •  Mitigate: OCR + human review</a:t>
            </a: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Chunks too small → big picture lost                             •  Mitigate: 50 overlap</a:t>
            </a: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No relevant chunk in Top-K → model guesses                      •  Mitigate: show “No answer found” + citations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Try: demos/07_limits.html — make it fail, then fix it.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THE VALUE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Benefits &amp; Limitations</a:t>
            </a:r>
          </a:p>
        </p:txBody>
      </p:sp>
      <p:sp>
        <p:nvSpPr>
          <p:cNvPr id="3" name="Body"/>
          <p:cNv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200" b="1">
                <a:solidFill>
                  <a:srgbClr val="12549E"/>
                </a:solidFill>
              </a:rPr>
              <a:t>Benefits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Semantic: “Physician” = “Doctor”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Speed: right page in milliseconds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No training: add a PDF, ready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Private &amp; grounded with page refs</a:t>
            </a:r>
          </a:p>
        </p:txBody>
      </p:sp>
      <p:sp>
        <p:nvSpPr>
          <p:cNvPr id="4" name="Side"/>
          <p:cNv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200" b="1">
                <a:solidFill>
                  <a:srgbClr val="EF413D"/>
                </a:solidFill>
              </a:rPr>
              <a:t>Limitations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Data quality in → quality out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Cost: embedding = compute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Small chunks → lost context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Update → re-chunk &amp; re-embed that file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INDUSTRY — HIGH LEVEL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Where RAG Is Used Today (Generic)</a:t>
            </a:r>
          </a:p>
        </p:txBody>
      </p:sp>
      <p:sp>
        <p:nvSpPr>
          <p:cNvPr id="3" name="Full"/>
          <p:cNv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Customer Support — manuals + tickets → cited answer  •  Healthcare — records → private assistant</a:t>
            </a: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Finance / Insurance — policies, claims → “what is covered?”  •  Legal — contracts → “find risky clause + page”</a:t>
            </a: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Education — textbooks → Q&amp;A with sources  •  Enterprise — handbooks → “leave policy?”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Same pattern: private docs + question → grounded answer with citations. All need re-processing on update.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BEYOND BASIC RAG  •  2 LINES EACH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When to Level Up</a:t>
            </a:r>
          </a:p>
        </p:txBody>
      </p:sp>
      <p:sp>
        <p:nvSpPr>
          <p:cNvPr id="3" name="Full"/>
          <p:cNv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50" b="1">
                <a:solidFill>
                  <a:srgbClr val="0A1931"/>
                </a:solidFill>
              </a:rPr>
              <a:t>Basic RAG (today)  —  Split → embed → Top-K → answer.  On update: re-chunk + re-embed only that file. Cheapest, fastest.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GraphRAG  —  Builds entity graph (Hospital ↔ covers ↔ City). On update: rebuild graph. Good for “how are X and Y connected?” but heavy.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Agentic RAG  —  Agent loops: search → check → search again → answer. No extra storage, but slower + higher token cost. For multi-hop questions.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EF413D"/>
                </a:solidFill>
              </a:rPr>
              <a:t>All 3 require re-processing on change — Basic cheapest per file.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KEY TAKEAWAY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Finding Answers Is Now Like Asking a Friend</a:t>
            </a:r>
          </a:p>
        </p:txBody>
      </p:sp>
      <p:sp>
        <p:nvSpPr>
          <p:cNvPr id="3" name="Full"/>
          <p:cNv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50" b="1">
                <a:solidFill>
                  <a:srgbClr val="0A1931"/>
                </a:solidFill>
              </a:rPr>
              <a:t>Vector search lets computers understand the human meaning of your documents.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100">
                <a:solidFill>
                  <a:srgbClr val="5A6C80"/>
                </a:solidFill>
              </a:rPr>
              <a:t>Not letters — meaning. With citations you can trust.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Scan now → try the closest-match map on your phone.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GO FURTHER  •  SCAN AFTER SESSION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Explore Later — One QR</a:t>
            </a:r>
          </a:p>
        </p:txBody>
      </p:sp>
      <p:sp>
        <p:nvSpPr>
          <p:cNvPr id="3" name="Full"/>
          <p:cNv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resources.html — separate file, one QR, all links: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Visualize real embeddings — TensorFlow Projector (your enwiki skipgram link)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Modern alternative — Embedding Atlas (Apple, lighter)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Why it works — Sentence-Transformers / all-MiniLM docs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Store at scale — Vector DB intro (Pinecone / Chroma)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Pattern — RAG from scratch + GraphRAG / Agentic RAG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QR → https://uiyuvi.github.io/rag-explainer/resources.html   •   THANK YOU — Q&amp;A</a:t>
            </a:r>
          </a:p>
        </p:txBody>
      </p:sp>
      <p:sp>
        <p:nvSpPr>
          <p:cNvPr id="5" name="Footer"/>
          <p:cNv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solidFill>
            <a:noFill/>
          </a:solidFill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CS France">
  <a:themeElements>
    <a:clrScheme name="TCS">
      <a:dk1>
        <a:srgbClr val="0A1931"/>
      </a:dk1>
      <a:lt1>
        <a:srgbClr val="FFFFFF"/>
      </a:lt1>
      <a:dk2>
        <a:srgbClr val="1F2A44"/>
      </a:dk2>
      <a:lt2>
        <a:srgbClr val="F4F7FA"/>
      </a:lt2>
      <a:accent1>
        <a:srgbClr val="12549E"/>
      </a:accent1>
      <a:accent2>
        <a:srgbClr val="EF413D"/>
      </a:accent2>
      <a:accent3>
        <a:srgbClr val="5B9BD5"/>
      </a:accent3>
      <a:accent4>
        <a:srgbClr val="70AD47"/>
      </a:accent4>
      <a:accent5>
        <a:srgbClr val="ED7D31"/>
      </a:accent5>
      <a:accent6>
        <a:srgbClr val="A5A5A5"/>
      </a:accent6>
      <a:hlink>
        <a:srgbClr val="12549E"/>
      </a:hlink>
      <a:folHlink>
        <a:srgbClr val="0A1931"/>
      </a:folHlink>
    </a:clrScheme>
    <a:fontScheme name="TCS">
      <a:majorFont>
        <a:latin typeface="Calibri"/>
      </a:majorFont>
      <a:minorFont>
        <a:latin typeface="Calibri"/>
      </a:minorFont>
    </a:fontScheme>
    <a:fmtScheme name="TCS">
      <a:fillStyleLst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rag_explainer</Application>
  <PresentationFormat>On-screen Show (16:9)</PresentationFormat>
  <Slides>18</Slides>
  <Notes>0</Notes>
  <HiddenSlides>0</HiddenSlides>
  <MMClips>0</MMClips>
  <ScaleCrop>false</ScaleCrop>
  <HeadingPairs>
    <vt:vector size="2" baseType="variant">
      <vt:variant>
        <vt:lpstr>Slides</vt:lpstr>
      </vt:variant>
      <vt:variant>
        <vt:i4>18</vt:i4>
      </vt:variant>
    </vt:vector>
  </HeadingPairs>
  <TitlesOfParts>
    <vt:vector size="18" baseType="lpstr"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TCS France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Explainer — Build Your Personal Document Assistant</dc:title>
  <dc:creator>TCS France – RAG Explainer</dc:creator>
  <cp:lastModifiedBy>TCS France</cp:lastModifiedBy>
  <dcterms:created xsi:type="dcterms:W3CDTF">2026-08-29T08:32:27Z</dcterms:created>
  <dcterms:modified xsi:type="dcterms:W3CDTF">2026-08-29T08:32:27Z</dcterms:modified>
</cp:coreProperties>
</file>