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4"/>
  </p:normalViewPr>
  <p:slideViewPr>
    <p:cSldViewPr>
      <p:cViewPr varScale="1">
        <p:scale>
          <a:sx n="124" d="100"/>
          <a:sy n="124" d="100"/>
        </p:scale>
        <p:origin x="128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0000" y="1700000"/>
            <a:ext cx="11192000" cy="2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3200" b="1" dirty="0">
                <a:solidFill>
                  <a:srgbClr val="0A1931"/>
                </a:solidFill>
              </a:rPr>
              <a:t>Build Your Personal</a:t>
            </a:r>
          </a:p>
          <a:p>
            <a:pPr algn="l"/>
            <a:r>
              <a:rPr lang="en-US" sz="3200" b="1" dirty="0">
                <a:solidFill>
                  <a:srgbClr val="0A1931"/>
                </a:solidFill>
              </a:rPr>
              <a:t>Document Assistant</a:t>
            </a:r>
          </a:p>
          <a:p>
            <a:endParaRPr lang="en-US" sz="600"/>
          </a:p>
          <a:p>
            <a:pPr algn="l"/>
            <a:r>
              <a:rPr lang="en-US" sz="1300" dirty="0">
                <a:solidFill>
                  <a:srgbClr val="5A6C80"/>
                </a:solidFill>
              </a:rPr>
              <a:t>How AI answers from data it was never trained on — the RAG technique behind private PDFs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360000" y="6380000"/>
            <a:ext cx="11472000" cy="33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800" dirty="0">
                <a:solidFill>
                  <a:srgbClr val="5A6C80"/>
                </a:solidFill>
              </a:rPr>
              <a:t>RAG Explainer  |  Private data stays private  |  uiyuvi.github.io/rag-explainer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360000" y="250000"/>
            <a:ext cx="11472000" cy="11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000" b="1" dirty="0">
                <a:solidFill>
                  <a:srgbClr val="12549E"/>
                </a:solidFill>
              </a:rPr>
              <a:t>AGENDA  •  25 MINUTES</a:t>
            </a:r>
          </a:p>
          <a:p>
            <a:endParaRPr lang="en-US" sz="300"/>
          </a:p>
          <a:p>
            <a:pPr algn="l"/>
            <a:r>
              <a:rPr lang="en-US" sz="2200" b="1" dirty="0">
                <a:solidFill>
                  <a:srgbClr val="0A1931"/>
                </a:solidFill>
              </a:rPr>
              <a:t>Our Journey Today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60000" y="1550000"/>
            <a:ext cx="11472000" cy="465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300" b="1" dirty="0">
                <a:solidFill>
                  <a:srgbClr val="12549E"/>
                </a:solidFill>
              </a:rPr>
              <a:t>The Problem  —  5 min</a:t>
            </a:r>
          </a:p>
          <a:p>
            <a:pPr algn="l"/>
            <a:r>
              <a:rPr lang="en-US" sz="1000" dirty="0">
                <a:solidFill>
                  <a:srgbClr val="5A6C80"/>
                </a:solidFill>
              </a:rPr>
              <a:t>Why searching with exact words fails. See it live.</a:t>
            </a:r>
          </a:p>
          <a:p>
            <a:endParaRPr lang="en-US" sz="600"/>
          </a:p>
          <a:p>
            <a:pPr algn="l"/>
            <a:r>
              <a:rPr lang="en-US" sz="1300" b="1" dirty="0">
                <a:solidFill>
                  <a:srgbClr val="12549E"/>
                </a:solidFill>
              </a:rPr>
              <a:t>The Flow  —  15 min</a:t>
            </a:r>
          </a:p>
          <a:p>
            <a:pPr algn="l"/>
            <a:r>
              <a:rPr lang="en-US" sz="1000" dirty="0">
                <a:solidFill>
                  <a:srgbClr val="5A6C80"/>
                </a:solidFill>
              </a:rPr>
              <a:t>How Vector Search works, step-by-step.</a:t>
            </a:r>
          </a:p>
          <a:p>
            <a:pPr algn="l"/>
            <a:r>
              <a:rPr lang="en-US" sz="1000" dirty="0">
                <a:solidFill>
                  <a:srgbClr val="5A6C80"/>
                </a:solidFill>
              </a:rPr>
              <a:t>One insurance PDF, end-to-end.</a:t>
            </a:r>
          </a:p>
          <a:p>
            <a:endParaRPr lang="en-US" sz="600"/>
          </a:p>
          <a:p>
            <a:pPr algn="l"/>
            <a:r>
              <a:rPr lang="en-US" sz="1300" b="1" dirty="0">
                <a:solidFill>
                  <a:srgbClr val="12549E"/>
                </a:solidFill>
              </a:rPr>
              <a:t>The Value  —  5 min</a:t>
            </a:r>
          </a:p>
          <a:p>
            <a:pPr algn="l"/>
            <a:r>
              <a:rPr lang="en-US" sz="1000" dirty="0">
                <a:solidFill>
                  <a:srgbClr val="5A6C80"/>
                </a:solidFill>
              </a:rPr>
              <a:t>Benefits, limits, where to use it,</a:t>
            </a:r>
          </a:p>
          <a:p>
            <a:pPr algn="l"/>
            <a:r>
              <a:rPr lang="en-US" sz="1000" dirty="0">
                <a:solidFill>
                  <a:srgbClr val="5A6C80"/>
                </a:solidFill>
              </a:rPr>
              <a:t>and live demos on your phone.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360000" y="6380000"/>
            <a:ext cx="11472000" cy="33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800" dirty="0">
                <a:solidFill>
                  <a:srgbClr val="5A6C80"/>
                </a:solidFill>
              </a:rPr>
              <a:t>RAG Explainer  |  Private data stays private  |  uiyuvi.github.io/rag-explainer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360000" y="250000"/>
            <a:ext cx="11472000" cy="11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000" b="1" dirty="0">
                <a:solidFill>
                  <a:srgbClr val="12549E"/>
                </a:solidFill>
              </a:rPr>
              <a:t>THE PROBLEM</a:t>
            </a:r>
          </a:p>
          <a:p>
            <a:endParaRPr lang="en-US" sz="300"/>
          </a:p>
          <a:p>
            <a:pPr algn="l"/>
            <a:r>
              <a:rPr lang="en-US" sz="2200" b="1" dirty="0">
                <a:solidFill>
                  <a:srgbClr val="0A1931"/>
                </a:solidFill>
              </a:rPr>
              <a:t>Why Normal Search Is Not Enough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60000" y="1550000"/>
            <a:ext cx="11472000" cy="465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12549E"/>
                </a:solidFill>
              </a:rPr>
              <a:t>The “Keyword” Problem</a:t>
            </a:r>
          </a:p>
          <a:p>
            <a:endParaRPr lang="en-US" sz="400"/>
          </a:p>
          <a:p>
            <a:pPr algn="l"/>
            <a:r>
              <a:rPr lang="en-US" sz="1050" dirty="0">
                <a:solidFill>
                  <a:srgbClr val="152536"/>
                </a:solidFill>
              </a:rPr>
              <a:t>✘  Search looks for exact words only.</a:t>
            </a:r>
          </a:p>
          <a:p>
            <a:pPr algn="l"/>
            <a:r>
              <a:rPr lang="en-US" sz="1050" dirty="0">
                <a:solidFill>
                  <a:srgbClr val="152536"/>
                </a:solidFill>
              </a:rPr>
              <a:t>✘  You ask for “Hospitals” → it misses “Medical Centers.”</a:t>
            </a:r>
          </a:p>
          <a:p>
            <a:pPr algn="l"/>
            <a:r>
              <a:rPr lang="en-US" sz="1050" dirty="0">
                <a:solidFill>
                  <a:srgbClr val="152536"/>
                </a:solidFill>
              </a:rPr>
              <a:t>✘  It does not understand meaning.</a:t>
            </a:r>
          </a:p>
          <a:p>
            <a:endParaRPr lang="en-US" sz="400"/>
          </a:p>
          <a:p>
            <a:pPr algn="l"/>
            <a:r>
              <a:rPr lang="en-US" sz="1000" b="1" dirty="0">
                <a:solidFill>
                  <a:srgbClr val="12549E"/>
                </a:solidFill>
              </a:rPr>
              <a:t>Demo in your hand: try it now →</a:t>
            </a:r>
          </a:p>
          <a:p>
            <a:pPr algn="l"/>
            <a:r>
              <a:rPr lang="en-US" sz="900" dirty="0">
                <a:solidFill>
                  <a:srgbClr val="5A6C80"/>
                </a:solidFill>
              </a:rPr>
              <a:t>01_keyword_vs_vector.html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360000" y="6380000"/>
            <a:ext cx="11472000" cy="33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800" dirty="0">
                <a:solidFill>
                  <a:srgbClr val="5A6C80"/>
                </a:solidFill>
              </a:rPr>
              <a:t>RAG Explainer  |  Private data stays private  |  uiyuvi.github.io/rag-explainer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360000" y="250000"/>
            <a:ext cx="11472000" cy="11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000" b="1" dirty="0">
                <a:solidFill>
                  <a:srgbClr val="12549E"/>
                </a:solidFill>
              </a:rPr>
              <a:t>RUNNING EXAMPLE</a:t>
            </a:r>
          </a:p>
          <a:p>
            <a:endParaRPr lang="en-US" sz="300"/>
          </a:p>
          <a:p>
            <a:pPr algn="l"/>
            <a:r>
              <a:rPr lang="en-US" sz="2200" b="1" dirty="0">
                <a:solidFill>
                  <a:srgbClr val="0A1931"/>
                </a:solidFill>
              </a:rPr>
              <a:t>Our Example: The 50-Page Insurance PDF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60000" y="1550000"/>
            <a:ext cx="11472000" cy="465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050" dirty="0">
                <a:solidFill>
                  <a:srgbClr val="5A6C80"/>
                </a:solidFill>
              </a:rPr>
              <a:t>Imagine you have a 50-page policy.</a:t>
            </a:r>
          </a:p>
          <a:p>
            <a:pPr algn="l"/>
            <a:r>
              <a:rPr lang="en-US" sz="1050" dirty="0">
                <a:solidFill>
                  <a:srgbClr val="5A6C80"/>
                </a:solidFill>
              </a:rPr>
              <a:t>You need one answer, fast.</a:t>
            </a:r>
          </a:p>
          <a:p>
            <a:endParaRPr lang="en-US" sz="400"/>
          </a:p>
          <a:p>
            <a:pPr algn="l"/>
            <a:r>
              <a:rPr lang="en-US" sz="1000" b="1" dirty="0">
                <a:solidFill>
                  <a:srgbClr val="0A1931"/>
                </a:solidFill>
              </a:rPr>
              <a:t>User asks:</a:t>
            </a:r>
          </a:p>
          <a:p>
            <a:pPr algn="l"/>
            <a:r>
              <a:rPr lang="en-US" sz="1300" b="1" dirty="0">
                <a:solidFill>
                  <a:srgbClr val="12549E"/>
                </a:solidFill>
              </a:rPr>
              <a:t>“Which hospitals are covered</a:t>
            </a:r>
          </a:p>
          <a:p>
            <a:pPr algn="l"/>
            <a:r>
              <a:rPr lang="en-US" sz="1300" b="1" dirty="0">
                <a:solidFill>
                  <a:srgbClr val="12549E"/>
                </a:solidFill>
              </a:rPr>
              <a:t>in this policy?”</a:t>
            </a:r>
          </a:p>
          <a:p>
            <a:endParaRPr lang="en-US" sz="400"/>
          </a:p>
          <a:p>
            <a:pPr algn="l"/>
            <a:r>
              <a:rPr lang="en-US" sz="950" dirty="0">
                <a:solidFill>
                  <a:srgbClr val="5A6C80"/>
                </a:solidFill>
              </a:rPr>
              <a:t>We will follow this ONE question through every step.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360000" y="6380000"/>
            <a:ext cx="11472000" cy="33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800" dirty="0">
                <a:solidFill>
                  <a:srgbClr val="5A6C80"/>
                </a:solidFill>
              </a:rPr>
              <a:t>RAG Explainer  |  Private data stays private  |  uiyuvi.github.io/rag-explainer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360000" y="250000"/>
            <a:ext cx="11472000" cy="11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000" b="1" dirty="0">
                <a:solidFill>
                  <a:srgbClr val="12549E"/>
                </a:solidFill>
              </a:rPr>
              <a:t>BIG PICTURE</a:t>
            </a:r>
          </a:p>
          <a:p>
            <a:endParaRPr lang="en-US" sz="300"/>
          </a:p>
          <a:p>
            <a:pPr algn="l"/>
            <a:r>
              <a:rPr lang="en-US" sz="2200" b="1" dirty="0">
                <a:solidFill>
                  <a:srgbClr val="0A1931"/>
                </a:solidFill>
              </a:rPr>
              <a:t>The Architecture — One Flow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60000" y="1550000"/>
            <a:ext cx="11472000" cy="465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50" b="1" dirty="0">
                <a:solidFill>
                  <a:srgbClr val="0A1931"/>
                </a:solidFill>
              </a:rPr>
              <a:t>PDF Policy  →  Chunking  →  Encoder  →  Vector DB  →  LLM Answer</a:t>
            </a:r>
          </a:p>
          <a:p>
            <a:endParaRPr lang="en-US" sz="300"/>
          </a:p>
          <a:p>
            <a:pPr algn="l"/>
            <a:r>
              <a:rPr lang="en-US" sz="1000" dirty="0">
                <a:solidFill>
                  <a:srgbClr val="5A6C80"/>
                </a:solidFill>
              </a:rPr>
              <a:t>We turn text into Meaning Fingerprints (Vectors), store them, find the closest match to your question, and let the AI write the answer.</a:t>
            </a:r>
          </a:p>
          <a:p>
            <a:endParaRPr lang="en-US" sz="400"/>
          </a:p>
          <a:p>
            <a:pPr algn="l"/>
            <a:r>
              <a:rPr lang="en-US" sz="950" b="1" dirty="0">
                <a:solidFill>
                  <a:srgbClr val="12549E"/>
                </a:solidFill>
              </a:rPr>
              <a:t>Next 9 slides = each box, with the same insurance question.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360000" y="6380000"/>
            <a:ext cx="11472000" cy="33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800" dirty="0">
                <a:solidFill>
                  <a:srgbClr val="5A6C80"/>
                </a:solidFill>
              </a:rPr>
              <a:t>RAG Explainer  |  Private data stays private  |  uiyuvi.github.io/rag-explainer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360000" y="250000"/>
            <a:ext cx="11472000" cy="11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000" b="1" dirty="0">
                <a:solidFill>
                  <a:srgbClr val="12549E"/>
                </a:solidFill>
              </a:rPr>
              <a:t>STEP 1  •  DOCUMENT INPUT</a:t>
            </a:r>
          </a:p>
          <a:p>
            <a:endParaRPr lang="en-US" sz="300"/>
          </a:p>
          <a:p>
            <a:pPr algn="l"/>
            <a:r>
              <a:rPr lang="en-US" sz="2200" b="1" dirty="0">
                <a:solidFill>
                  <a:srgbClr val="0A1931"/>
                </a:solidFill>
              </a:rPr>
              <a:t>Reading Your Source Files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60000" y="1550000"/>
            <a:ext cx="11472000" cy="465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050" dirty="0">
                <a:solidFill>
                  <a:srgbClr val="5A6C80"/>
                </a:solidFill>
              </a:rPr>
              <a:t>The system reads source files as the single source of truth.</a:t>
            </a:r>
          </a:p>
          <a:p>
            <a:endParaRPr lang="en-US" sz="300"/>
          </a:p>
          <a:p>
            <a:pPr algn="l"/>
            <a:r>
              <a:rPr lang="en-US" sz="1000" dirty="0">
                <a:solidFill>
                  <a:srgbClr val="152536"/>
                </a:solidFill>
              </a:rPr>
              <a:t>•  Reads text, tables and images (OCR if scanned)</a:t>
            </a:r>
          </a:p>
          <a:p>
            <a:pPr algn="l"/>
            <a:r>
              <a:rPr lang="en-US" sz="1000" dirty="0">
                <a:solidFill>
                  <a:srgbClr val="152536"/>
                </a:solidFill>
              </a:rPr>
              <a:t>•  Keeps data in your system — secure, private</a:t>
            </a:r>
          </a:p>
          <a:p>
            <a:pPr algn="l"/>
            <a:r>
              <a:rPr lang="en-US" sz="1000" dirty="0">
                <a:solidFill>
                  <a:srgbClr val="152536"/>
                </a:solidFill>
              </a:rPr>
              <a:t>•  Extracts every word to prepare for the next step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360000" y="6380000"/>
            <a:ext cx="11472000" cy="33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800" dirty="0">
                <a:solidFill>
                  <a:srgbClr val="5A6C80"/>
                </a:solidFill>
              </a:rPr>
              <a:t>RAG Explainer  |  Private data stays private  |  uiyuvi.github.io/rag-explainer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360000" y="250000"/>
            <a:ext cx="11472000" cy="11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000" b="1" dirty="0">
                <a:solidFill>
                  <a:srgbClr val="12549E"/>
                </a:solidFill>
              </a:rPr>
              <a:t>STEP 2  •  CHUNKING</a:t>
            </a:r>
          </a:p>
          <a:p>
            <a:endParaRPr lang="en-US" sz="300"/>
          </a:p>
          <a:p>
            <a:pPr algn="l"/>
            <a:r>
              <a:rPr lang="en-US" sz="2200" b="1" dirty="0">
                <a:solidFill>
                  <a:srgbClr val="0A1931"/>
                </a:solidFill>
              </a:rPr>
              <a:t>Cutting the Baguette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60000" y="1550000"/>
            <a:ext cx="11472000" cy="465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050" dirty="0">
                <a:solidFill>
                  <a:srgbClr val="5A6C80"/>
                </a:solidFill>
              </a:rPr>
              <a:t>50 pages is too big to digest at once.</a:t>
            </a:r>
          </a:p>
          <a:p>
            <a:pPr algn="l"/>
            <a:r>
              <a:rPr lang="en-US" sz="1050" b="1" dirty="0">
                <a:solidFill>
                  <a:srgbClr val="0A1931"/>
                </a:solidFill>
              </a:rPr>
              <a:t>We cut it into small “chunks” (paragraphs).</a:t>
            </a:r>
          </a:p>
          <a:p>
            <a:endParaRPr lang="en-US" sz="300"/>
          </a:p>
          <a:p>
            <a:pPr algn="l"/>
            <a:r>
              <a:rPr lang="en-US" sz="1000" dirty="0">
                <a:solidFill>
                  <a:srgbClr val="152536"/>
                </a:solidFill>
              </a:rPr>
              <a:t>•  Ensures we find the exact page you need</a:t>
            </a:r>
          </a:p>
          <a:p>
            <a:pPr algn="l"/>
            <a:r>
              <a:rPr lang="en-US" sz="1000" dirty="0">
                <a:solidFill>
                  <a:srgbClr val="152536"/>
                </a:solidFill>
              </a:rPr>
              <a:t>•  Example: 500 characters + 50 overlap</a:t>
            </a:r>
          </a:p>
          <a:p>
            <a:pPr algn="l"/>
            <a:r>
              <a:rPr lang="en-US" sz="1000" dirty="0">
                <a:solidFill>
                  <a:srgbClr val="152536"/>
                </a:solidFill>
              </a:rPr>
              <a:t>•  Too small → loses context. Too big → misses precision.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360000" y="6380000"/>
            <a:ext cx="11472000" cy="33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800" dirty="0">
                <a:solidFill>
                  <a:srgbClr val="5A6C80"/>
                </a:solidFill>
              </a:rPr>
              <a:t>RAG Explainer  |  Private data stays private  |  uiyuvi.github.io/rag-explainer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360000" y="250000"/>
            <a:ext cx="11472000" cy="11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000" b="1" dirty="0">
                <a:solidFill>
                  <a:srgbClr val="12549E"/>
                </a:solidFill>
              </a:rPr>
              <a:t>STEP 3+4  •  EMBEDDINGS &amp; VECTORS</a:t>
            </a:r>
          </a:p>
          <a:p>
            <a:endParaRPr lang="en-US" sz="300"/>
          </a:p>
          <a:p>
            <a:pPr algn="l"/>
            <a:r>
              <a:rPr lang="en-US" sz="2200" b="1" dirty="0">
                <a:solidFill>
                  <a:srgbClr val="0A1931"/>
                </a:solidFill>
              </a:rPr>
              <a:t>Meaning Fingerprints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60000" y="1550000"/>
            <a:ext cx="11472000" cy="465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050" b="1" dirty="0">
                <a:solidFill>
                  <a:srgbClr val="0A1931"/>
                </a:solidFill>
              </a:rPr>
              <a:t>The Encoder turns each chunk into a list of numbers — a Vector.</a:t>
            </a:r>
          </a:p>
          <a:p>
            <a:pPr algn="l"/>
            <a:r>
              <a:rPr lang="en-US" sz="1000" dirty="0">
                <a:solidFill>
                  <a:srgbClr val="5A6C80"/>
                </a:solidFill>
              </a:rPr>
              <a:t>These numbers represent concept, not letters.</a:t>
            </a:r>
          </a:p>
          <a:p>
            <a:endParaRPr lang="en-US" sz="300"/>
          </a:p>
          <a:p>
            <a:pPr algn="l"/>
            <a:r>
              <a:rPr lang="en-US" sz="1000" b="1" dirty="0">
                <a:solidFill>
                  <a:srgbClr val="12549E"/>
                </a:solidFill>
              </a:rPr>
              <a:t>Similar meanings → similar numbers.</a:t>
            </a:r>
          </a:p>
          <a:p>
            <a:pPr algn="l"/>
            <a:r>
              <a:rPr lang="en-US" sz="950" dirty="0">
                <a:solidFill>
                  <a:srgbClr val="5A6C80"/>
                </a:solidFill>
              </a:rPr>
              <a:t>“St. Jude’s Hospital” ≈ “Medical Care Center” (0.92)</a:t>
            </a:r>
          </a:p>
          <a:p>
            <a:pPr algn="l"/>
            <a:r>
              <a:rPr lang="en-US" sz="950" dirty="0">
                <a:solidFill>
                  <a:srgbClr val="5A6C80"/>
                </a:solidFill>
              </a:rPr>
              <a:t>“St. Jude’s Hospital” ≠ “Car” (0.03)</a:t>
            </a:r>
          </a:p>
          <a:p>
            <a:endParaRPr lang="en-US" sz="300"/>
          </a:p>
          <a:p>
            <a:pPr algn="l"/>
            <a:r>
              <a:rPr lang="en-US" sz="900" dirty="0">
                <a:solidFill>
                  <a:srgbClr val="5A6C80"/>
                </a:solidFill>
              </a:rPr>
              <a:t>Think: coordinates on a map of all human knowledge.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360000" y="6380000"/>
            <a:ext cx="11472000" cy="33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800" dirty="0">
                <a:solidFill>
                  <a:srgbClr val="5A6C80"/>
                </a:solidFill>
              </a:rPr>
              <a:t>RAG Explainer  |  Private data stays private  |  uiyuvi.github.io/rag-explainer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360000" y="250000"/>
            <a:ext cx="11472000" cy="11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000" b="1" dirty="0">
                <a:solidFill>
                  <a:srgbClr val="12549E"/>
                </a:solidFill>
              </a:rPr>
              <a:t>STEP 5  •  VECTOR DATABASE</a:t>
            </a:r>
          </a:p>
          <a:p>
            <a:endParaRPr lang="en-US" sz="300"/>
          </a:p>
          <a:p>
            <a:pPr algn="l"/>
            <a:r>
              <a:rPr lang="en-US" sz="2200" b="1" dirty="0">
                <a:solidFill>
                  <a:srgbClr val="0A1931"/>
                </a:solidFill>
              </a:rPr>
              <a:t>The Smart Library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60000" y="1550000"/>
            <a:ext cx="11472000" cy="465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050" dirty="0">
                <a:solidFill>
                  <a:srgbClr val="0A1931"/>
                </a:solidFill>
              </a:rPr>
              <a:t>A storage system for all fingerprints.</a:t>
            </a:r>
          </a:p>
          <a:p>
            <a:endParaRPr lang="en-US" sz="200"/>
          </a:p>
          <a:p>
            <a:pPr algn="l"/>
            <a:r>
              <a:rPr lang="en-US" sz="1000" dirty="0">
                <a:solidFill>
                  <a:srgbClr val="152536"/>
                </a:solidFill>
              </a:rPr>
              <a:t>•  Groups related topics together</a:t>
            </a:r>
          </a:p>
          <a:p>
            <a:pPr algn="l"/>
            <a:r>
              <a:rPr lang="en-US" sz="1000" dirty="0">
                <a:solidFill>
                  <a:srgbClr val="152536"/>
                </a:solidFill>
              </a:rPr>
              <a:t>•  Finds matches in milliseconds, even for 10,000 pages</a:t>
            </a:r>
          </a:p>
          <a:p>
            <a:pPr algn="l"/>
            <a:r>
              <a:rPr lang="en-US" sz="1000" dirty="0">
                <a:solidFill>
                  <a:srgbClr val="152536"/>
                </a:solidFill>
              </a:rPr>
              <a:t>•  When you ask, it ranks every chunk by meaning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360000" y="6380000"/>
            <a:ext cx="11472000" cy="33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800" dirty="0">
                <a:solidFill>
                  <a:srgbClr val="5A6C80"/>
                </a:solidFill>
              </a:rPr>
              <a:t>RAG Explainer  |  Private data stays private  |  uiyuvi.github.io/rag-explainer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360000" y="250000"/>
            <a:ext cx="11472000" cy="11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000" b="1" dirty="0">
                <a:solidFill>
                  <a:srgbClr val="12549E"/>
                </a:solidFill>
              </a:rPr>
              <a:t>STEP 6+7  •  QUERY &amp; SEARCH</a:t>
            </a:r>
          </a:p>
          <a:p>
            <a:endParaRPr lang="en-US" sz="300"/>
          </a:p>
          <a:p>
            <a:pPr algn="l"/>
            <a:r>
              <a:rPr lang="en-US" sz="2200" b="1" dirty="0">
                <a:solidFill>
                  <a:srgbClr val="0A1931"/>
                </a:solidFill>
              </a:rPr>
              <a:t>The “Closest Match” Game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60000" y="1550000"/>
            <a:ext cx="11472000" cy="465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b="1" dirty="0">
                <a:solidFill>
                  <a:srgbClr val="12549E"/>
                </a:solidFill>
              </a:rPr>
              <a:t>You ask: “Which hospitals are covered?”</a:t>
            </a:r>
          </a:p>
          <a:p>
            <a:pPr algn="l"/>
            <a:r>
              <a:rPr lang="en-US" sz="1000" dirty="0">
                <a:solidFill>
                  <a:srgbClr val="5A6C80"/>
                </a:solidFill>
              </a:rPr>
              <a:t>System makes a fingerprint for the question too.</a:t>
            </a:r>
          </a:p>
          <a:p>
            <a:endParaRPr lang="en-US" sz="300"/>
          </a:p>
          <a:p>
            <a:pPr algn="l"/>
            <a:r>
              <a:rPr lang="en-US" sz="1000" b="1" dirty="0">
                <a:solidFill>
                  <a:srgbClr val="0A1931"/>
                </a:solidFill>
              </a:rPr>
              <a:t>Then compares → pulls Top-K (best 3-4 chunks).</a:t>
            </a:r>
          </a:p>
          <a:p>
            <a:pPr algn="l"/>
            <a:r>
              <a:rPr lang="en-US" sz="1000" dirty="0">
                <a:solidFill>
                  <a:srgbClr val="5A6C80"/>
                </a:solidFill>
              </a:rPr>
              <a:t>Ignores 40 pages of legal fluff.</a:t>
            </a:r>
          </a:p>
          <a:p>
            <a:endParaRPr lang="en-US" sz="300"/>
          </a:p>
          <a:p>
            <a:pPr algn="l"/>
            <a:r>
              <a:rPr lang="en-US" sz="900" dirty="0">
                <a:solidFill>
                  <a:srgbClr val="12549E"/>
                </a:solidFill>
              </a:rPr>
              <a:t>Try: demos/04_similarity_rank.html → Top-K slider.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360000" y="6380000"/>
            <a:ext cx="11472000" cy="33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800" dirty="0">
                <a:solidFill>
                  <a:srgbClr val="5A6C80"/>
                </a:solidFill>
              </a:rPr>
              <a:t>RAG Explainer  |  Private data stays private  |  uiyuvi.github.io/rag-explainer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360000" y="250000"/>
            <a:ext cx="11472000" cy="11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000" b="1" dirty="0">
                <a:solidFill>
                  <a:srgbClr val="12549E"/>
                </a:solidFill>
              </a:rPr>
              <a:t>STEP 8  •  FEEDING THE EXPERT</a:t>
            </a:r>
          </a:p>
          <a:p>
            <a:endParaRPr lang="en-US" sz="300"/>
          </a:p>
          <a:p>
            <a:pPr algn="l"/>
            <a:r>
              <a:rPr lang="en-US" sz="2200" b="1" dirty="0">
                <a:solidFill>
                  <a:srgbClr val="0A1931"/>
                </a:solidFill>
              </a:rPr>
              <a:t>The Lawyer’s Desk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60000" y="1550000"/>
            <a:ext cx="11472000" cy="465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050" b="1" dirty="0">
                <a:solidFill>
                  <a:srgbClr val="0A1931"/>
                </a:solidFill>
              </a:rPr>
              <a:t>We give the LLM (AI brain) ONLY the relevant chunks.</a:t>
            </a:r>
          </a:p>
          <a:p>
            <a:endParaRPr lang="en-US" sz="300"/>
          </a:p>
          <a:p>
            <a:pPr algn="l"/>
            <a:r>
              <a:rPr lang="en-US" sz="1000" dirty="0">
                <a:solidFill>
                  <a:srgbClr val="152536"/>
                </a:solidFill>
              </a:rPr>
              <a:t>•  Not the whole 50 pages — just 3 pages</a:t>
            </a:r>
          </a:p>
          <a:p>
            <a:pPr algn="l"/>
            <a:r>
              <a:rPr lang="en-US" sz="1000" dirty="0">
                <a:solidFill>
                  <a:srgbClr val="152536"/>
                </a:solidFill>
              </a:rPr>
              <a:t>•  Fits in the token window (e.g., 4,096 tokens)</a:t>
            </a:r>
          </a:p>
          <a:p>
            <a:pPr algn="l"/>
            <a:r>
              <a:rPr lang="en-US" sz="1000" dirty="0">
                <a:solidFill>
                  <a:srgbClr val="152536"/>
                </a:solidFill>
              </a:rPr>
              <a:t>•  LLM reads → writes a clear answer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360000" y="6380000"/>
            <a:ext cx="11472000" cy="33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800" dirty="0">
                <a:solidFill>
                  <a:srgbClr val="5A6C80"/>
                </a:solidFill>
              </a:rPr>
              <a:t>RAG Explainer  |  Private data stays private  |  uiyuvi.github.io/rag-explainer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360000" y="250000"/>
            <a:ext cx="11472000" cy="11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000" b="1" dirty="0">
                <a:solidFill>
                  <a:srgbClr val="12549E"/>
                </a:solidFill>
              </a:rPr>
              <a:t>STEP 9  •  ANSWER</a:t>
            </a:r>
          </a:p>
          <a:p>
            <a:endParaRPr lang="en-US" sz="300"/>
          </a:p>
          <a:p>
            <a:pPr algn="l"/>
            <a:r>
              <a:rPr lang="en-US" sz="2200" b="1" dirty="0">
                <a:solidFill>
                  <a:srgbClr val="0A1931"/>
                </a:solidFill>
              </a:rPr>
              <a:t>A Natural Response — With Citations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60000" y="1550000"/>
            <a:ext cx="11472000" cy="465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b="1" dirty="0">
                <a:solidFill>
                  <a:srgbClr val="0A1931"/>
                </a:solidFill>
              </a:rPr>
              <a:t>AI says:</a:t>
            </a:r>
          </a:p>
          <a:p>
            <a:pPr algn="l"/>
            <a:r>
              <a:rPr lang="en-US" sz="1100" dirty="0">
                <a:solidFill>
                  <a:srgbClr val="12549E"/>
                </a:solidFill>
              </a:rPr>
              <a:t>“According to your policy (p.12, p.8, p.31), you are covered at City General, St. Jude’s Medical Center, and Westside Health.”</a:t>
            </a:r>
          </a:p>
          <a:p>
            <a:endParaRPr lang="en-US" sz="400"/>
          </a:p>
          <a:p>
            <a:pPr algn="l"/>
            <a:r>
              <a:rPr lang="en-US" sz="1000" dirty="0">
                <a:solidFill>
                  <a:srgbClr val="5A6C80"/>
                </a:solidFill>
              </a:rPr>
              <a:t>Grounded: answer + sources. You can verify.      Try end-to-end: demos/06_e2e_rag.html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360000" y="6380000"/>
            <a:ext cx="11472000" cy="33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800" dirty="0">
                <a:solidFill>
                  <a:srgbClr val="5A6C80"/>
                </a:solidFill>
              </a:rPr>
              <a:t>RAG Explainer  |  Private data stays private  |  uiyuvi.github.io/rag-explainer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360000" y="250000"/>
            <a:ext cx="11472000" cy="11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000" b="1" dirty="0">
                <a:solidFill>
                  <a:srgbClr val="12549E"/>
                </a:solidFill>
              </a:rPr>
              <a:t>TRUST  •  FAILURE MODES</a:t>
            </a:r>
          </a:p>
          <a:p>
            <a:endParaRPr lang="en-US" sz="300"/>
          </a:p>
          <a:p>
            <a:pPr algn="l"/>
            <a:r>
              <a:rPr lang="en-US" sz="2200" b="1" dirty="0">
                <a:solidFill>
                  <a:srgbClr val="0A1931"/>
                </a:solidFill>
              </a:rPr>
              <a:t>When It Goes Wrong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60000" y="1550000"/>
            <a:ext cx="11472000" cy="465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050" b="1" dirty="0">
                <a:solidFill>
                  <a:srgbClr val="0A1931"/>
                </a:solidFill>
              </a:rPr>
              <a:t>If retrieval misses → LLM may hallucinate. We mitigate:</a:t>
            </a:r>
          </a:p>
          <a:p>
            <a:endParaRPr lang="en-US" sz="300"/>
          </a:p>
          <a:p>
            <a:pPr algn="l"/>
            <a:r>
              <a:rPr lang="en-US" sz="950" dirty="0">
                <a:solidFill>
                  <a:srgbClr val="152536"/>
                </a:solidFill>
              </a:rPr>
              <a:t>•  Blurry PDF → OCR errors → wrong vectors → check scans          •  Mitigate: OCR + human review</a:t>
            </a:r>
          </a:p>
          <a:p>
            <a:pPr algn="l"/>
            <a:r>
              <a:rPr lang="en-US" sz="950" dirty="0">
                <a:solidFill>
                  <a:srgbClr val="152536"/>
                </a:solidFill>
              </a:rPr>
              <a:t>•  Chunks too small → big picture lost                             •  Mitigate: 50 overlap</a:t>
            </a:r>
          </a:p>
          <a:p>
            <a:pPr algn="l"/>
            <a:r>
              <a:rPr lang="en-US" sz="950" dirty="0">
                <a:solidFill>
                  <a:srgbClr val="152536"/>
                </a:solidFill>
              </a:rPr>
              <a:t>•  No relevant chunk in Top-K → model guesses                      •  Mitigate: show “No answer found” + citations</a:t>
            </a:r>
          </a:p>
          <a:p>
            <a:endParaRPr lang="en-US" sz="300"/>
          </a:p>
          <a:p>
            <a:pPr algn="l"/>
            <a:r>
              <a:rPr lang="en-US" sz="950" b="1" dirty="0">
                <a:solidFill>
                  <a:srgbClr val="12549E"/>
                </a:solidFill>
              </a:rPr>
              <a:t>Try: demos/07_limits.html — make it fail, then fix it.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360000" y="6380000"/>
            <a:ext cx="11472000" cy="33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800" dirty="0">
                <a:solidFill>
                  <a:srgbClr val="5A6C80"/>
                </a:solidFill>
              </a:rPr>
              <a:t>RAG Explainer  |  Private data stays private  |  uiyuvi.github.io/rag-explainer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360000" y="250000"/>
            <a:ext cx="11472000" cy="11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000" b="1" dirty="0">
                <a:solidFill>
                  <a:srgbClr val="12549E"/>
                </a:solidFill>
              </a:rPr>
              <a:t>THE VALUE</a:t>
            </a:r>
          </a:p>
          <a:p>
            <a:endParaRPr lang="en-US" sz="300"/>
          </a:p>
          <a:p>
            <a:pPr algn="l"/>
            <a:r>
              <a:rPr lang="en-US" sz="2200" b="1" dirty="0">
                <a:solidFill>
                  <a:srgbClr val="0A1931"/>
                </a:solidFill>
              </a:rPr>
              <a:t>Benefits &amp; Limitations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60000" y="1550000"/>
            <a:ext cx="11472000" cy="465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12549E"/>
                </a:solidFill>
              </a:rPr>
              <a:t>Benefits</a:t>
            </a:r>
          </a:p>
          <a:p>
            <a:pPr algn="l"/>
            <a:r>
              <a:rPr lang="en-US" sz="1000" dirty="0">
                <a:solidFill>
                  <a:srgbClr val="152536"/>
                </a:solidFill>
              </a:rPr>
              <a:t>•  ✓  Semantic: “Physician” = “Doctor”</a:t>
            </a:r>
          </a:p>
          <a:p>
            <a:pPr algn="l"/>
            <a:r>
              <a:rPr lang="en-US" sz="1000" dirty="0">
                <a:solidFill>
                  <a:srgbClr val="152536"/>
                </a:solidFill>
              </a:rPr>
              <a:t>•  ✓  Speed: right page in milliseconds</a:t>
            </a:r>
          </a:p>
          <a:p>
            <a:pPr algn="l"/>
            <a:r>
              <a:rPr lang="en-US" sz="1000" dirty="0">
                <a:solidFill>
                  <a:srgbClr val="152536"/>
                </a:solidFill>
              </a:rPr>
              <a:t>•  ✓  No training: add a PDF, ready</a:t>
            </a:r>
          </a:p>
          <a:p>
            <a:pPr algn="l"/>
            <a:r>
              <a:rPr lang="en-US" sz="1000" dirty="0">
                <a:solidFill>
                  <a:srgbClr val="152536"/>
                </a:solidFill>
              </a:rPr>
              <a:t>•  ✓  Private &amp; grounded with page refs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360000" y="6380000"/>
            <a:ext cx="11472000" cy="33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800" dirty="0">
                <a:solidFill>
                  <a:srgbClr val="5A6C80"/>
                </a:solidFill>
              </a:rPr>
              <a:t>RAG Explainer  |  Private data stays private  |  uiyuvi.github.io/rag-explainer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360000" y="250000"/>
            <a:ext cx="11472000" cy="11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000" b="1" dirty="0">
                <a:solidFill>
                  <a:srgbClr val="12549E"/>
                </a:solidFill>
              </a:rPr>
              <a:t>INDUSTRY — HIGH LEVEL</a:t>
            </a:r>
          </a:p>
          <a:p>
            <a:endParaRPr lang="en-US" sz="300"/>
          </a:p>
          <a:p>
            <a:pPr algn="l"/>
            <a:r>
              <a:rPr lang="en-US" sz="2200" b="1" dirty="0">
                <a:solidFill>
                  <a:srgbClr val="0A1931"/>
                </a:solidFill>
              </a:rPr>
              <a:t>Where RAG Is Used Today (Generic)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60000" y="1550000"/>
            <a:ext cx="11472000" cy="465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950" dirty="0">
                <a:solidFill>
                  <a:srgbClr val="152536"/>
                </a:solidFill>
              </a:rPr>
              <a:t>Customer Support — manuals + tickets → cited answer  •  Healthcare — records → private assistant</a:t>
            </a:r>
          </a:p>
          <a:p>
            <a:pPr algn="l"/>
            <a:r>
              <a:rPr lang="en-US" sz="950" dirty="0">
                <a:solidFill>
                  <a:srgbClr val="152536"/>
                </a:solidFill>
              </a:rPr>
              <a:t>Finance / Insurance — policies, claims → “what is covered?”  •  Legal — contracts → “find risky clause + page”</a:t>
            </a:r>
          </a:p>
          <a:p>
            <a:pPr algn="l"/>
            <a:r>
              <a:rPr lang="en-US" sz="950" dirty="0">
                <a:solidFill>
                  <a:srgbClr val="152536"/>
                </a:solidFill>
              </a:rPr>
              <a:t>Education — textbooks → Q&amp;A with sources  •  Enterprise — handbooks → “leave policy?”</a:t>
            </a:r>
          </a:p>
          <a:p>
            <a:endParaRPr lang="en-US" sz="300"/>
          </a:p>
          <a:p>
            <a:pPr algn="l"/>
            <a:r>
              <a:rPr lang="en-US" sz="950" b="1" dirty="0">
                <a:solidFill>
                  <a:srgbClr val="12549E"/>
                </a:solidFill>
              </a:rPr>
              <a:t>Same pattern: private docs + question → grounded answer with citations. All need re-processing on update.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360000" y="6380000"/>
            <a:ext cx="11472000" cy="33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800" dirty="0">
                <a:solidFill>
                  <a:srgbClr val="5A6C80"/>
                </a:solidFill>
              </a:rPr>
              <a:t>RAG Explainer  |  Private data stays private  |  uiyuvi.github.io/rag-explainer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360000" y="250000"/>
            <a:ext cx="11472000" cy="11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000" b="1" dirty="0">
                <a:solidFill>
                  <a:srgbClr val="12549E"/>
                </a:solidFill>
              </a:rPr>
              <a:t>BEYOND BASIC RAG  •  2 LINES EACH</a:t>
            </a:r>
          </a:p>
          <a:p>
            <a:endParaRPr lang="en-US" sz="300"/>
          </a:p>
          <a:p>
            <a:pPr algn="l"/>
            <a:r>
              <a:rPr lang="en-US" sz="2200" b="1" dirty="0">
                <a:solidFill>
                  <a:srgbClr val="0A1931"/>
                </a:solidFill>
              </a:rPr>
              <a:t>When to Level Up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60000" y="1550000"/>
            <a:ext cx="11472000" cy="465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950" b="1" dirty="0">
                <a:solidFill>
                  <a:srgbClr val="0A1931"/>
                </a:solidFill>
              </a:rPr>
              <a:t>Basic RAG (today)  —  Split → embed → Top-K → answer.  On update: re-chunk + re-embed only that file. Cheapest, fastest.</a:t>
            </a:r>
          </a:p>
          <a:p>
            <a:endParaRPr lang="en-US" sz="200"/>
          </a:p>
          <a:p>
            <a:pPr algn="l"/>
            <a:r>
              <a:rPr lang="en-US" sz="950" dirty="0">
                <a:solidFill>
                  <a:srgbClr val="152536"/>
                </a:solidFill>
              </a:rPr>
              <a:t>GraphRAG  —  Builds entity graph (Hospital ↔ covers ↔ City). On update: rebuild graph. Good for “how are X and Y connected?” but heavy.</a:t>
            </a:r>
          </a:p>
          <a:p>
            <a:endParaRPr lang="en-US" sz="200"/>
          </a:p>
          <a:p>
            <a:pPr algn="l"/>
            <a:r>
              <a:rPr lang="en-US" sz="950" dirty="0">
                <a:solidFill>
                  <a:srgbClr val="152536"/>
                </a:solidFill>
              </a:rPr>
              <a:t>Agentic RAG  —  Agent loops: search → check → search again → answer. No extra storage, but slower + higher token cost. For multi-hop questions.</a:t>
            </a:r>
          </a:p>
          <a:p>
            <a:endParaRPr lang="en-US" sz="200"/>
          </a:p>
          <a:p>
            <a:pPr algn="l"/>
            <a:r>
              <a:rPr lang="en-US" sz="900" b="1" dirty="0">
                <a:solidFill>
                  <a:srgbClr val="EF413D"/>
                </a:solidFill>
              </a:rPr>
              <a:t>All 3 require re-processing on change — Basic cheapest per file.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360000" y="6380000"/>
            <a:ext cx="11472000" cy="33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800" dirty="0">
                <a:solidFill>
                  <a:srgbClr val="5A6C80"/>
                </a:solidFill>
              </a:rPr>
              <a:t>RAG Explainer  |  Private data stays private  |  uiyuvi.github.io/rag-explainer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360000" y="250000"/>
            <a:ext cx="11472000" cy="11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000" b="1" dirty="0">
                <a:solidFill>
                  <a:srgbClr val="12549E"/>
                </a:solidFill>
              </a:rPr>
              <a:t>KEY TAKEAWAY</a:t>
            </a:r>
          </a:p>
          <a:p>
            <a:endParaRPr lang="en-US" sz="300"/>
          </a:p>
          <a:p>
            <a:pPr algn="l"/>
            <a:r>
              <a:rPr lang="en-US" sz="2200" b="1" dirty="0">
                <a:solidFill>
                  <a:srgbClr val="0A1931"/>
                </a:solidFill>
              </a:rPr>
              <a:t>Finding Answers Is Now Like Asking a Friend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60000" y="1550000"/>
            <a:ext cx="11472000" cy="465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50" b="1" dirty="0">
                <a:solidFill>
                  <a:srgbClr val="0A1931"/>
                </a:solidFill>
              </a:rPr>
              <a:t>Vector search lets computers understand the human meaning of your documents.</a:t>
            </a:r>
          </a:p>
          <a:p>
            <a:endParaRPr lang="en-US" sz="300"/>
          </a:p>
          <a:p>
            <a:pPr algn="l"/>
            <a:r>
              <a:rPr lang="en-US" sz="1100" dirty="0">
                <a:solidFill>
                  <a:srgbClr val="5A6C80"/>
                </a:solidFill>
              </a:rPr>
              <a:t>Not letters — meaning. With citations you can trust.</a:t>
            </a:r>
          </a:p>
          <a:p>
            <a:endParaRPr lang="en-US" sz="400"/>
          </a:p>
          <a:p>
            <a:pPr algn="l"/>
            <a:r>
              <a:rPr lang="en-US" sz="1000" b="1" dirty="0">
                <a:solidFill>
                  <a:srgbClr val="12549E"/>
                </a:solidFill>
              </a:rPr>
              <a:t>Scan now → try the closest-match map on your phone.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360000" y="6380000"/>
            <a:ext cx="11472000" cy="33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800" dirty="0">
                <a:solidFill>
                  <a:srgbClr val="5A6C80"/>
                </a:solidFill>
              </a:rPr>
              <a:t>RAG Explainer  |  Private data stays private  |  uiyuvi.github.io/rag-explainer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360000" y="250000"/>
            <a:ext cx="11472000" cy="11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000" b="1" dirty="0">
                <a:solidFill>
                  <a:srgbClr val="12549E"/>
                </a:solidFill>
              </a:rPr>
              <a:t>GO FURTHER  •  SCAN AFTER SESSION</a:t>
            </a:r>
          </a:p>
          <a:p>
            <a:endParaRPr lang="en-US" sz="300"/>
          </a:p>
          <a:p>
            <a:pPr algn="l"/>
            <a:r>
              <a:rPr lang="en-US" sz="2200" b="1" dirty="0">
                <a:solidFill>
                  <a:srgbClr val="0A1931"/>
                </a:solidFill>
              </a:rPr>
              <a:t>Explore Later — One QR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360000" y="1550000"/>
            <a:ext cx="11472000" cy="465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000" b="1" dirty="0">
                <a:solidFill>
                  <a:srgbClr val="0A1931"/>
                </a:solidFill>
              </a:rPr>
              <a:t>resources.html — separate file, one QR, all links:</a:t>
            </a:r>
          </a:p>
          <a:p>
            <a:pPr algn="l"/>
            <a:r>
              <a:rPr lang="en-US" sz="900" dirty="0">
                <a:solidFill>
                  <a:srgbClr val="152536"/>
                </a:solidFill>
              </a:rPr>
              <a:t>•  Visualize real embeddings — TensorFlow Projector (your enwiki skipgram link)</a:t>
            </a:r>
          </a:p>
          <a:p>
            <a:pPr algn="l"/>
            <a:r>
              <a:rPr lang="en-US" sz="900" dirty="0">
                <a:solidFill>
                  <a:srgbClr val="152536"/>
                </a:solidFill>
              </a:rPr>
              <a:t>•  Modern alternative — Embedding Atlas (Apple, lighter)</a:t>
            </a:r>
          </a:p>
          <a:p>
            <a:pPr algn="l"/>
            <a:r>
              <a:rPr lang="en-US" sz="900" dirty="0">
                <a:solidFill>
                  <a:srgbClr val="152536"/>
                </a:solidFill>
              </a:rPr>
              <a:t>•  Why it works — Sentence-Transformers / all-MiniLM docs</a:t>
            </a:r>
          </a:p>
          <a:p>
            <a:pPr algn="l"/>
            <a:r>
              <a:rPr lang="en-US" sz="900" dirty="0">
                <a:solidFill>
                  <a:srgbClr val="152536"/>
                </a:solidFill>
              </a:rPr>
              <a:t>•  Store at scale — Vector DB intro (Pinecone / Chroma)</a:t>
            </a:r>
          </a:p>
          <a:p>
            <a:pPr algn="l"/>
            <a:r>
              <a:rPr lang="en-US" sz="900" dirty="0">
                <a:solidFill>
                  <a:srgbClr val="152536"/>
                </a:solidFill>
              </a:rPr>
              <a:t>•  Pattern — RAG from scratch + GraphRAG / Agentic RAG</a:t>
            </a:r>
          </a:p>
          <a:p>
            <a:endParaRPr lang="en-US" sz="300"/>
          </a:p>
          <a:p>
            <a:pPr algn="l"/>
            <a:r>
              <a:rPr lang="en-US" sz="1000" b="1" dirty="0">
                <a:solidFill>
                  <a:srgbClr val="12549E"/>
                </a:solidFill>
              </a:rPr>
              <a:t>QR → https://uiyuvi.github.io/rag-explainer/resources.html   •   THANK YOU — Q&amp;A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360000" y="6380000"/>
            <a:ext cx="11472000" cy="33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800" dirty="0">
                <a:solidFill>
                  <a:srgbClr val="5A6C80"/>
                </a:solidFill>
              </a:rPr>
              <a:t>RAG Explainer  |  Private data stays private  |  uiyuvi.github.io/rag-explainer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10</Words>
  <Application>Microsoft Macintosh PowerPoint</Application>
  <PresentationFormat>On-screen Show (4:3)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>neopraxis.org</Company>
  <LinksUpToDate>false</LinksUpToDate>
  <SharedDoc>false</SharedDoc>
  <HyperlinkBase/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Explainer - Build Your Personal Document Assistant</dc:title>
  <dc:subject/>
  <dc:creator>RAG Explainer</dc:creator>
  <cp:keywords/>
  <dc:description/>
  <cp:lastModifiedBy>RAG Explainer</cp:lastModifiedBy>
  <cp:revision>15</cp:revision>
  <dcterms:created xsi:type="dcterms:W3CDTF">2012-11-17T11:07:40Z</dcterms:created>
  <dcterms:modified xsi:type="dcterms:W3CDTF">2019-04-30T00:24:25Z</dcterms:modified>
  <cp:category/>
</cp:coreProperties>
</file>